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844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topic: how two OOP pillars shape an online banking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235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F9D8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600" b="1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Encapsulation and Abstraction in Online Banking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D8CF"/>
                </a:solidFill>
              </a:rPr>
              <a:t>Object-oriented design for secure and simple banking systems</a:t>
            </a:r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059E53-4A3E-3F7E-4F15-D0581EB3E0E9}"/>
              </a:ext>
            </a:extLst>
          </p:cNvPr>
          <p:cNvSpPr txBox="1"/>
          <p:nvPr/>
        </p:nvSpPr>
        <p:spPr>
          <a:xfrm>
            <a:off x="780757" y="3770114"/>
            <a:ext cx="3283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Pedaballe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Malreddy</a:t>
            </a:r>
            <a:r>
              <a:rPr lang="en-US" dirty="0">
                <a:solidFill>
                  <a:schemeClr val="bg1"/>
                </a:solidFill>
              </a:rPr>
              <a:t> - 192372015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Online Banking System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</a:rPr>
              <a:t>Core services that handle sensitive data and must stay both secure and easy to use:</a:t>
            </a:r>
            <a:endParaRPr lang="en-US" sz="1600" dirty="0"/>
          </a:p>
        </p:txBody>
      </p:sp>
      <p:sp>
        <p:nvSpPr>
          <p:cNvPr id="4" name="card0"/>
          <p:cNvSpPr/>
          <p:nvPr/>
        </p:nvSpPr>
        <p:spPr>
          <a:xfrm>
            <a:off x="457200" y="1737360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bar0"/>
          <p:cNvSpPr/>
          <p:nvPr/>
        </p:nvSpPr>
        <p:spPr>
          <a:xfrm>
            <a:off x="457200" y="1737360"/>
            <a:ext cx="73152" cy="21031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28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</a:rPr>
              <a:t>Fund Transfer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4028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</a:rPr>
              <a:t>Move money between accounts with validation and limits.</a:t>
            </a:r>
            <a:endParaRPr lang="en-US" sz="1300" dirty="0"/>
          </a:p>
        </p:txBody>
      </p:sp>
      <p:sp>
        <p:nvSpPr>
          <p:cNvPr id="8" name="card1"/>
          <p:cNvSpPr/>
          <p:nvPr/>
        </p:nvSpPr>
        <p:spPr>
          <a:xfrm>
            <a:off x="3246120" y="1737360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bar1"/>
          <p:cNvSpPr/>
          <p:nvPr/>
        </p:nvSpPr>
        <p:spPr>
          <a:xfrm>
            <a:off x="3246120" y="1737360"/>
            <a:ext cx="73152" cy="210312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828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</a:rPr>
              <a:t>Account Management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24028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</a:rPr>
              <a:t>Balances, profile, credentials and account settings.</a:t>
            </a:r>
            <a:endParaRPr lang="en-US" sz="1300" dirty="0"/>
          </a:p>
        </p:txBody>
      </p:sp>
      <p:sp>
        <p:nvSpPr>
          <p:cNvPr id="12" name="card2"/>
          <p:cNvSpPr/>
          <p:nvPr/>
        </p:nvSpPr>
        <p:spPr>
          <a:xfrm>
            <a:off x="6035040" y="1737360"/>
            <a:ext cx="26060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3" name="bar2"/>
          <p:cNvSpPr/>
          <p:nvPr/>
        </p:nvSpPr>
        <p:spPr>
          <a:xfrm>
            <a:off x="6035040" y="1737360"/>
            <a:ext cx="73152" cy="2103120"/>
          </a:xfrm>
          <a:prstGeom prst="rect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18288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</a:rPr>
              <a:t>Transaction Tracking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24028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</a:rPr>
              <a:t>History, statements and audit trail of every operation.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2355B"/>
                </a:solidFill>
              </a:rPr>
              <a:t>Challenge: protect sensitive data while hiding internal complexity from users and developers.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Abstraction: Show What, Hide How</a:t>
            </a:r>
            <a:endParaRPr lang="en-US" sz="2600" dirty="0"/>
          </a:p>
        </p:txBody>
      </p:sp>
      <p:sp>
        <p:nvSpPr>
          <p:cNvPr id="3" name="card0"/>
          <p:cNvSpPr/>
          <p:nvPr/>
        </p:nvSpPr>
        <p:spPr>
          <a:xfrm>
            <a:off x="457200" y="1143000"/>
            <a:ext cx="40233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4" name="bar0"/>
          <p:cNvSpPr/>
          <p:nvPr/>
        </p:nvSpPr>
        <p:spPr>
          <a:xfrm>
            <a:off x="457200" y="1143000"/>
            <a:ext cx="73152" cy="32918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</a:rPr>
              <a:t>Concept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Expose only essential features; hide implementation detail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Achieved with abstract classes and interfaces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Focus on what an object does, not how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Reduces complexity for the user of the class</a:t>
            </a:r>
            <a:endParaRPr lang="en-US" sz="1300" dirty="0"/>
          </a:p>
        </p:txBody>
      </p:sp>
      <p:sp>
        <p:nvSpPr>
          <p:cNvPr id="7" name="card1"/>
          <p:cNvSpPr/>
          <p:nvPr/>
        </p:nvSpPr>
        <p:spPr>
          <a:xfrm>
            <a:off x="4663440" y="1143000"/>
            <a:ext cx="40233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bar1"/>
          <p:cNvSpPr/>
          <p:nvPr/>
        </p:nvSpPr>
        <p:spPr>
          <a:xfrm>
            <a:off x="4663440" y="1143000"/>
            <a:ext cx="73152" cy="329184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</a:rPr>
              <a:t>In Online Banking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64592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User clicks "Transfer": no view of routing, fraud checks or ledger updates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Interface Payment with transfer() implemented by NEFT, IMPS, UPI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Teams code against the interface, not the internals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Internals can change without affecting callers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Encapsulation: Bundle and Protect</a:t>
            </a:r>
            <a:endParaRPr lang="en-US" sz="2600" dirty="0"/>
          </a:p>
        </p:txBody>
      </p:sp>
      <p:sp>
        <p:nvSpPr>
          <p:cNvPr id="3" name="card0"/>
          <p:cNvSpPr/>
          <p:nvPr/>
        </p:nvSpPr>
        <p:spPr>
          <a:xfrm>
            <a:off x="457200" y="1143000"/>
            <a:ext cx="40233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4" name="bar0"/>
          <p:cNvSpPr/>
          <p:nvPr/>
        </p:nvSpPr>
        <p:spPr>
          <a:xfrm>
            <a:off x="457200" y="1143000"/>
            <a:ext cx="73152" cy="32918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</a:rPr>
              <a:t>Concept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Bundle data and methods in one class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Make fields private; allow access only through public methods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Enforces validation and controlled state changes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Also called data hiding</a:t>
            </a:r>
            <a:endParaRPr lang="en-US" sz="1300" dirty="0"/>
          </a:p>
        </p:txBody>
      </p:sp>
      <p:sp>
        <p:nvSpPr>
          <p:cNvPr id="7" name="card1"/>
          <p:cNvSpPr/>
          <p:nvPr/>
        </p:nvSpPr>
        <p:spPr>
          <a:xfrm>
            <a:off x="4663440" y="1143000"/>
            <a:ext cx="40233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bar1"/>
          <p:cNvSpPr/>
          <p:nvPr/>
        </p:nvSpPr>
        <p:spPr>
          <a:xfrm>
            <a:off x="4663440" y="1143000"/>
            <a:ext cx="73152" cy="329184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</a:rPr>
              <a:t>In Online Banking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64592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balance, PIN and password are private fields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deposit() and withdraw() check amount and funds first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No direct edit such as account.balance = 1000000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Read-only getters expose safe views only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Abstraction vs Encapsulation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340156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Abstraction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Encapsulation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55B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Hide complexity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Protect data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55B"/>
                          </a:solidFill>
                        </a:rPr>
                        <a:t>Level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Design level (what to expose)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Implementation level (how to guard)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55B"/>
                          </a:solidFill>
                        </a:rPr>
                        <a:t>Achieved by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Abstract classes, interfaces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Private fields, getters/setters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55B"/>
                          </a:solidFill>
                        </a:rPr>
                        <a:t>Focus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Behaviour and essentials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State and access control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55B"/>
                          </a:solidFill>
                        </a:rPr>
                        <a:t>Banking example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transfer() hides routing and checks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balance changed only via deposit()/withdraw()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Protecting Sensitive Data</a:t>
            </a:r>
            <a:endParaRPr lang="en-US" sz="2600" dirty="0"/>
          </a:p>
        </p:txBody>
      </p:sp>
      <p:sp>
        <p:nvSpPr>
          <p:cNvPr id="3" name="card0"/>
          <p:cNvSpPr/>
          <p:nvPr/>
        </p:nvSpPr>
        <p:spPr>
          <a:xfrm>
            <a:off x="457200" y="1143000"/>
            <a:ext cx="40233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4" name="bar0"/>
          <p:cNvSpPr/>
          <p:nvPr/>
        </p:nvSpPr>
        <p:spPr>
          <a:xfrm>
            <a:off x="457200" y="1143000"/>
            <a:ext cx="73152" cy="155448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</a:rPr>
              <a:t>Private fields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</a:rPr>
              <a:t>Balance, PIN and passwords cannot be read or set from outside the class.</a:t>
            </a:r>
            <a:endParaRPr lang="en-US" sz="1300" dirty="0"/>
          </a:p>
        </p:txBody>
      </p:sp>
      <p:sp>
        <p:nvSpPr>
          <p:cNvPr id="7" name="card1"/>
          <p:cNvSpPr/>
          <p:nvPr/>
        </p:nvSpPr>
        <p:spPr>
          <a:xfrm>
            <a:off x="4663440" y="1143000"/>
            <a:ext cx="40233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bar1"/>
          <p:cNvSpPr/>
          <p:nvPr/>
        </p:nvSpPr>
        <p:spPr>
          <a:xfrm>
            <a:off x="4663440" y="1143000"/>
            <a:ext cx="73152" cy="155448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</a:rPr>
              <a:t>Validated updates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6459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</a:rPr>
              <a:t>Setters and methods reject negative amounts, overdrafts and invalid input.</a:t>
            </a:r>
            <a:endParaRPr lang="en-US" sz="1300" dirty="0"/>
          </a:p>
        </p:txBody>
      </p:sp>
      <p:sp>
        <p:nvSpPr>
          <p:cNvPr id="11" name="card2"/>
          <p:cNvSpPr/>
          <p:nvPr/>
        </p:nvSpPr>
        <p:spPr>
          <a:xfrm>
            <a:off x="457200" y="2880360"/>
            <a:ext cx="40233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bar2"/>
          <p:cNvSpPr/>
          <p:nvPr/>
        </p:nvSpPr>
        <p:spPr>
          <a:xfrm>
            <a:off x="457200" y="2880360"/>
            <a:ext cx="73152" cy="1554480"/>
          </a:xfrm>
          <a:prstGeom prst="rect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</a:rPr>
              <a:t>Controlled access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3832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</a:rPr>
              <a:t>Only authorised methods change state; each change can be logged and audited.</a:t>
            </a:r>
            <a:endParaRPr lang="en-US" sz="1300" dirty="0"/>
          </a:p>
        </p:txBody>
      </p:sp>
      <p:sp>
        <p:nvSpPr>
          <p:cNvPr id="15" name="card3"/>
          <p:cNvSpPr/>
          <p:nvPr/>
        </p:nvSpPr>
        <p:spPr>
          <a:xfrm>
            <a:off x="4663440" y="2880360"/>
            <a:ext cx="40233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6" name="bar3"/>
          <p:cNvSpPr/>
          <p:nvPr/>
        </p:nvSpPr>
        <p:spPr>
          <a:xfrm>
            <a:off x="4663440" y="2880360"/>
            <a:ext cx="73152" cy="155448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</a:rPr>
              <a:t>Minimal exposure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3832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</a:rPr>
              <a:t>Callers see masked or read-only values, never raw credentials.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Simplifying System Complexity</a:t>
            </a:r>
            <a:endParaRPr lang="en-US" sz="2600" dirty="0"/>
          </a:p>
        </p:txBody>
      </p:sp>
      <p:sp>
        <p:nvSpPr>
          <p:cNvPr id="3" name="card0"/>
          <p:cNvSpPr/>
          <p:nvPr/>
        </p:nvSpPr>
        <p:spPr>
          <a:xfrm>
            <a:off x="457200" y="1143000"/>
            <a:ext cx="260604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4" name="bar0"/>
          <p:cNvSpPr/>
          <p:nvPr/>
        </p:nvSpPr>
        <p:spPr>
          <a:xfrm>
            <a:off x="457200" y="1143000"/>
            <a:ext cx="73152" cy="32918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</a:rPr>
              <a:t>Simple interfaces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2240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One call, e.g. transfer()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Hides fraud checks, ledger and notifications</a:t>
            </a:r>
            <a:endParaRPr lang="en-US" sz="1300" dirty="0"/>
          </a:p>
        </p:txBody>
      </p:sp>
      <p:sp>
        <p:nvSpPr>
          <p:cNvPr id="7" name="card1"/>
          <p:cNvSpPr/>
          <p:nvPr/>
        </p:nvSpPr>
        <p:spPr>
          <a:xfrm>
            <a:off x="3268980" y="1143000"/>
            <a:ext cx="260604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bar1"/>
          <p:cNvSpPr/>
          <p:nvPr/>
        </p:nvSpPr>
        <p:spPr>
          <a:xfrm>
            <a:off x="3268980" y="1143000"/>
            <a:ext cx="73152" cy="329184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97580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</a:rPr>
              <a:t>Modularity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97580" y="1645920"/>
            <a:ext cx="2240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Each class owns its data and rules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Easier testing and debugging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Change one module safely</a:t>
            </a:r>
            <a:endParaRPr lang="en-US" sz="1300" dirty="0"/>
          </a:p>
        </p:txBody>
      </p:sp>
      <p:sp>
        <p:nvSpPr>
          <p:cNvPr id="11" name="card2"/>
          <p:cNvSpPr/>
          <p:nvPr/>
        </p:nvSpPr>
        <p:spPr>
          <a:xfrm>
            <a:off x="6080760" y="1143000"/>
            <a:ext cx="260604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bar2"/>
          <p:cNvSpPr/>
          <p:nvPr/>
        </p:nvSpPr>
        <p:spPr>
          <a:xfrm>
            <a:off x="6080760" y="1143000"/>
            <a:ext cx="73152" cy="3291840"/>
          </a:xfrm>
          <a:prstGeom prst="rect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234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</a:rPr>
              <a:t>Flexibility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645920"/>
            <a:ext cx="22402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Swap UPI, IMPS or NEFT behind one interface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Add new services without rewriting callers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Working Together and Conclusion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1B2430"/>
                </a:solidFill>
              </a:rPr>
              <a:t>Abstraction decides what the customer and other modules may see. Encapsulation guarantees that what is hidden stays protected.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0F9D8A"/>
                </a:solidFill>
              </a:rPr>
              <a:t>Abstraction simplifies the system; encapsulation secures it.</a:t>
            </a:r>
            <a:endParaRPr lang="en-US" sz="1700" dirty="0"/>
          </a:p>
        </p:txBody>
      </p:sp>
      <p:sp>
        <p:nvSpPr>
          <p:cNvPr id="4" name="card0"/>
          <p:cNvSpPr/>
          <p:nvPr/>
        </p:nvSpPr>
        <p:spPr>
          <a:xfrm>
            <a:off x="457200" y="2560320"/>
            <a:ext cx="40233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bar0"/>
          <p:cNvSpPr/>
          <p:nvPr/>
        </p:nvSpPr>
        <p:spPr>
          <a:xfrm>
            <a:off x="457200" y="2560320"/>
            <a:ext cx="73152" cy="192024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</a:rPr>
              <a:t>Key takeaways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6324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Different roles, same goal: robust design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Together they cut risk and complexity</a:t>
            </a:r>
            <a:endParaRPr lang="en-US" sz="1300" dirty="0"/>
          </a:p>
        </p:txBody>
      </p:sp>
      <p:sp>
        <p:nvSpPr>
          <p:cNvPr id="8" name="card1"/>
          <p:cNvSpPr/>
          <p:nvPr/>
        </p:nvSpPr>
        <p:spPr>
          <a:xfrm>
            <a:off x="4663440" y="2560320"/>
            <a:ext cx="40233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9" name="bar1"/>
          <p:cNvSpPr/>
          <p:nvPr/>
        </p:nvSpPr>
        <p:spPr>
          <a:xfrm>
            <a:off x="4663440" y="2560320"/>
            <a:ext cx="73152" cy="192024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55B"/>
                </a:solidFill>
              </a:rPr>
              <a:t>Result for banking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306324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Safer accounts and transactions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Maintainable, extensible code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nking">
  <a:themeElements>
    <a:clrScheme name="Banking">
      <a:dk1>
        <a:srgbClr val="1B2430"/>
      </a:dk1>
      <a:lt1>
        <a:srgbClr val="FFFFFF"/>
      </a:lt1>
      <a:dk2>
        <a:srgbClr val="12355B"/>
      </a:dk2>
      <a:lt2>
        <a:srgbClr val="F2F5F9"/>
      </a:lt2>
      <a:accent1>
        <a:srgbClr val="0F9D8A"/>
      </a:accent1>
      <a:accent2>
        <a:srgbClr val="2F6DB5"/>
      </a:accent2>
      <a:accent3>
        <a:srgbClr val="E0A100"/>
      </a:accent3>
      <a:accent4>
        <a:srgbClr val="C0504D"/>
      </a:accent4>
      <a:accent5>
        <a:srgbClr val="6B7A8F"/>
      </a:accent5>
      <a:accent6>
        <a:srgbClr val="8E5BB5"/>
      </a:accent6>
      <a:hlink>
        <a:srgbClr val="2F6DB5"/>
      </a:hlink>
      <a:folHlink>
        <a:srgbClr val="6B7A8F"/>
      </a:folHlink>
    </a:clrScheme>
    <a:fontScheme name="Banking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508</Words>
  <Application>Microsoft Office PowerPoint</Application>
  <PresentationFormat>On-screen Show (16:9)</PresentationFormat>
  <Paragraphs>98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Banking</vt:lpstr>
      <vt:lpstr>PowerPoint Presentation</vt:lpstr>
      <vt:lpstr>The Online Banking System</vt:lpstr>
      <vt:lpstr>Abstraction: Show What, Hide How</vt:lpstr>
      <vt:lpstr>Encapsulation: Bundle and Protect</vt:lpstr>
      <vt:lpstr>Abstraction vs Encapsulation</vt:lpstr>
      <vt:lpstr>Protecting Sensitive Data</vt:lpstr>
      <vt:lpstr>Simplifying System Complexity</vt:lpstr>
      <vt:lpstr>Working Together and 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MALREDDY PEDABALLI</cp:lastModifiedBy>
  <cp:revision>3</cp:revision>
  <dcterms:created xsi:type="dcterms:W3CDTF">2026-10-08T06:41:14Z</dcterms:created>
  <dcterms:modified xsi:type="dcterms:W3CDTF">2026-10-15T08:51:44Z</dcterms:modified>
</cp:coreProperties>
</file>